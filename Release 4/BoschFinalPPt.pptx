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nva Sans Bold" charset="1" panose="020B0803030501040103"/>
      <p:regular r:id="rId43"/>
    </p:embeddedFont>
    <p:embeddedFont>
      <p:font typeface="Noto Serif Display Semi-Bold Italics" charset="1" panose="02020702080505090204"/>
      <p:regular r:id="rId44"/>
    </p:embeddedFont>
    <p:embeddedFont>
      <p:font typeface="Public Sans" charset="1" panose="00000000000000000000"/>
      <p:regular r:id="rId45"/>
    </p:embeddedFont>
    <p:embeddedFont>
      <p:font typeface="Public Sans Bold" charset="1" panose="00000000000000000000"/>
      <p:regular r:id="rId46"/>
    </p:embeddedFont>
    <p:embeddedFont>
      <p:font typeface="Canva Sans" charset="1" panose="020B0503030501040103"/>
      <p:regular r:id="rId47"/>
    </p:embeddedFont>
    <p:embeddedFont>
      <p:font typeface="Helvetica World" charset="1" panose="020B0500040000020004"/>
      <p:regular r:id="rId48"/>
    </p:embeddedFont>
    <p:embeddedFont>
      <p:font typeface="DM Sans Bold" charset="1" panose="00000000000000000000"/>
      <p:regular r:id="rId49"/>
    </p:embeddedFont>
    <p:embeddedFont>
      <p:font typeface="Proxima Nova" charset="1" panose="02000506030000020004"/>
      <p:regular r:id="rId50"/>
    </p:embeddedFont>
    <p:embeddedFont>
      <p:font typeface="Proxima Nova Bold" charset="1" panose="02000506030000020004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jpe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295862"/>
            <a:ext cx="17082644" cy="357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1"/>
              </a:lnSpc>
            </a:pPr>
            <a:r>
              <a:rPr lang="en-US" sz="8501" spc="-416" b="true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Automating Diagram Generation: Translating Natural Language with LLMs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58041" y="7091864"/>
            <a:ext cx="11301259" cy="2528657"/>
          </a:xfrm>
          <a:custGeom>
            <a:avLst/>
            <a:gdLst/>
            <a:ahLst/>
            <a:cxnLst/>
            <a:rect r="r" b="b" t="t" l="l"/>
            <a:pathLst>
              <a:path h="2528657" w="11301259">
                <a:moveTo>
                  <a:pt x="0" y="0"/>
                </a:moveTo>
                <a:lnTo>
                  <a:pt x="11301259" y="0"/>
                </a:lnTo>
                <a:lnTo>
                  <a:pt x="11301259" y="2528657"/>
                </a:lnTo>
                <a:lnTo>
                  <a:pt x="0" y="252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27136" y="4371737"/>
            <a:ext cx="4002745" cy="40027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25136" t="0" r="-25136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77877" y="2047637"/>
            <a:ext cx="1391924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0"/>
              </a:lnSpc>
            </a:pPr>
            <a:r>
              <a:rPr lang="en-US" b="true" sz="13500" i="true" spc="-66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Team Members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41255" y="4371737"/>
            <a:ext cx="4002745" cy="400274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0153" r="0" b="-2015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58350" y="4105037"/>
            <a:ext cx="4002745" cy="4002745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4"/>
              <a:stretch>
                <a:fillRect l="-13560" t="0" r="-1356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819327" y="4105037"/>
            <a:ext cx="4002745" cy="400274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5"/>
              <a:stretch>
                <a:fillRect l="-7291" t="0" r="-729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584032"/>
            <a:ext cx="3245346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Aamish Samotra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4402" y="8584032"/>
            <a:ext cx="2676451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Akshita Arora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24313" y="8584032"/>
            <a:ext cx="1670819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Lida Wei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68796" y="8584032"/>
            <a:ext cx="3416573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Shambhavi Singh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5670483" y="5982219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5670483" y="6657892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5670483" y="7334250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5670483" y="8010525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5670483" y="8686800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12239090" y="5982219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2239090" y="6657892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12239090" y="7334250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4191083" y="6095917"/>
            <a:ext cx="8382166" cy="8382166"/>
          </a:xfrm>
          <a:custGeom>
            <a:avLst/>
            <a:gdLst/>
            <a:ahLst/>
            <a:cxnLst/>
            <a:rect r="r" b="b" t="t" l="l"/>
            <a:pathLst>
              <a:path h="8382166" w="8382166">
                <a:moveTo>
                  <a:pt x="0" y="0"/>
                </a:moveTo>
                <a:lnTo>
                  <a:pt x="8382166" y="0"/>
                </a:lnTo>
                <a:lnTo>
                  <a:pt x="8382166" y="8382166"/>
                </a:lnTo>
                <a:lnTo>
                  <a:pt x="0" y="83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458154"/>
            <a:ext cx="1391924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0"/>
              </a:lnSpc>
            </a:pPr>
            <a:r>
              <a:rPr lang="en-US" b="true" sz="13500" i="true" spc="-66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3875" y="6019717"/>
            <a:ext cx="68962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Background &amp; 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53875" y="6696075"/>
            <a:ext cx="503681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 Overview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653875" y="7372350"/>
            <a:ext cx="658521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Dataset Creation and Fine-Tuning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653875" y="8048625"/>
            <a:ext cx="60268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Diagram Generation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53875" y="8724900"/>
            <a:ext cx="50368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Results and Evaluation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3875" y="5343442"/>
            <a:ext cx="50368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 &amp; Project Goals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22482" y="6019717"/>
            <a:ext cx="50368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Future Scope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22482" y="6696075"/>
            <a:ext cx="50368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2482" y="5343442"/>
            <a:ext cx="50368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Challenges and Learnings</a:t>
            </a:r>
          </a:p>
        </p:txBody>
      </p:sp>
      <p:sp>
        <p:nvSpPr>
          <p:cNvPr name="AutoShape 22" id="22"/>
          <p:cNvSpPr/>
          <p:nvPr/>
        </p:nvSpPr>
        <p:spPr>
          <a:xfrm rot="0">
            <a:off x="8679763" y="3657517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267792" y="4480396"/>
            <a:ext cx="15991508" cy="189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Visualizing infrastructure enhances understanding, troubleshooting, and stakeholder communication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Objective: Automate translation of textual descriptions into accurate, visual architecture diagrams.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Leveraged AI techniques: Prompt engineering, rule-based logic, and LLM fine-tuning.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3799"/>
            <a:ext cx="1129339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43300"/>
            <a:ext cx="1129339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Project Goals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4943" y="7512050"/>
            <a:ext cx="481231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Convert textual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descriptions into visual diagrams automatically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76575" y="7543800"/>
            <a:ext cx="481231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Ensure correctness using domain-specific logical rules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512050"/>
            <a:ext cx="481231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Fine-tune LLMs using structured synthetic datasets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4943" y="5956300"/>
            <a:ext cx="481231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Automation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12222482" y="4291012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4851604" y="5956300"/>
            <a:ext cx="481231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956300"/>
            <a:ext cx="481231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Contextual 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understanding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87138" y="5956300"/>
            <a:ext cx="481231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 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Framework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87138" y="7512050"/>
            <a:ext cx="4812313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Establish clear metrics for comparing prompting and fine-tuning methods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8101348" y="5229032"/>
            <a:ext cx="1653351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" id="3"/>
          <p:cNvSpPr/>
          <p:nvPr/>
        </p:nvSpPr>
        <p:spPr>
          <a:xfrm rot="0">
            <a:off x="10138767" y="4142770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138767" y="6212870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138767" y="8283273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426169"/>
            <a:ext cx="7171765" cy="4114800"/>
          </a:xfrm>
          <a:custGeom>
            <a:avLst/>
            <a:gdLst/>
            <a:ahLst/>
            <a:cxnLst/>
            <a:rect r="r" b="b" t="t" l="l"/>
            <a:pathLst>
              <a:path h="4114800" w="7171765">
                <a:moveTo>
                  <a:pt x="0" y="0"/>
                </a:moveTo>
                <a:lnTo>
                  <a:pt x="7171765" y="0"/>
                </a:lnTo>
                <a:lnTo>
                  <a:pt x="71717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38767" y="4247545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Manual diagram creation is time-consuming, error-prone, and challenging for non-technical stakeholders.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8767" y="6317947"/>
            <a:ext cx="712053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Traditional tools (AWS icons, Lucidchart) lack dynamic scalability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8767" y="8388350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Need for automated, flexible diagram generation aligning with modern Infrastructure-as-Code practices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9494" y="122918"/>
            <a:ext cx="11293394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Background &amp; Problem Statement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09875"/>
            <a:ext cx="1129339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Types of Diagrams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0774" y="52800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73533" y="5956300"/>
            <a:ext cx="481231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Database Diagrams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924000" y="5143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11862" y="5956300"/>
            <a:ext cx="481231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Functional 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Diagrams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67009" y="504825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78260" y="5956300"/>
            <a:ext cx="481231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Networking Diagrams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70501" y="3595052"/>
            <a:ext cx="13457222" cy="5663248"/>
          </a:xfrm>
          <a:custGeom>
            <a:avLst/>
            <a:gdLst/>
            <a:ahLst/>
            <a:cxnLst/>
            <a:rect r="r" b="b" t="t" l="l"/>
            <a:pathLst>
              <a:path h="5663248" w="13457222">
                <a:moveTo>
                  <a:pt x="0" y="0"/>
                </a:moveTo>
                <a:lnTo>
                  <a:pt x="13457222" y="0"/>
                </a:lnTo>
                <a:lnTo>
                  <a:pt x="13457222" y="5663248"/>
                </a:lnTo>
                <a:lnTo>
                  <a:pt x="0" y="5663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93929" y="2309966"/>
            <a:ext cx="59001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08504" y="3043317"/>
            <a:ext cx="9270991" cy="6953243"/>
          </a:xfrm>
          <a:custGeom>
            <a:avLst/>
            <a:gdLst/>
            <a:ahLst/>
            <a:cxnLst/>
            <a:rect r="r" b="b" t="t" l="l"/>
            <a:pathLst>
              <a:path h="6953243" w="9270991">
                <a:moveTo>
                  <a:pt x="0" y="0"/>
                </a:moveTo>
                <a:lnTo>
                  <a:pt x="9270992" y="0"/>
                </a:lnTo>
                <a:lnTo>
                  <a:pt x="9270992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91597" y="1920658"/>
            <a:ext cx="63048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566393" y="3045878"/>
            <a:ext cx="10755843" cy="7170562"/>
          </a:xfrm>
          <a:custGeom>
            <a:avLst/>
            <a:gdLst/>
            <a:ahLst/>
            <a:cxnLst/>
            <a:rect r="r" b="b" t="t" l="l"/>
            <a:pathLst>
              <a:path h="7170562" w="10755843">
                <a:moveTo>
                  <a:pt x="0" y="0"/>
                </a:moveTo>
                <a:lnTo>
                  <a:pt x="10755843" y="0"/>
                </a:lnTo>
                <a:lnTo>
                  <a:pt x="10755843" y="7170561"/>
                </a:lnTo>
                <a:lnTo>
                  <a:pt x="0" y="717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52443" y="1920658"/>
            <a:ext cx="658311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Networking Diagram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67559" y="2307734"/>
            <a:ext cx="5043484" cy="7542448"/>
          </a:xfrm>
          <a:custGeom>
            <a:avLst/>
            <a:gdLst/>
            <a:ahLst/>
            <a:cxnLst/>
            <a:rect r="r" b="b" t="t" l="l"/>
            <a:pathLst>
              <a:path h="7542448" w="5043484">
                <a:moveTo>
                  <a:pt x="0" y="0"/>
                </a:moveTo>
                <a:lnTo>
                  <a:pt x="5043485" y="0"/>
                </a:lnTo>
                <a:lnTo>
                  <a:pt x="5043485" y="7542449"/>
                </a:lnTo>
                <a:lnTo>
                  <a:pt x="0" y="754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33" r="0" b="-1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5542" y="2124075"/>
            <a:ext cx="7593362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Example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22721" y="5713445"/>
            <a:ext cx="544123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Input: “Create a class diagram for a library system with classes for Book, Library, and Member.”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165567" y="3459989"/>
            <a:ext cx="9560983" cy="6495110"/>
          </a:xfrm>
          <a:custGeom>
            <a:avLst/>
            <a:gdLst/>
            <a:ahLst/>
            <a:cxnLst/>
            <a:rect r="r" b="b" t="t" l="l"/>
            <a:pathLst>
              <a:path h="6495110" w="9560983">
                <a:moveTo>
                  <a:pt x="0" y="0"/>
                </a:moveTo>
                <a:lnTo>
                  <a:pt x="9560983" y="0"/>
                </a:lnTo>
                <a:lnTo>
                  <a:pt x="9560983" y="6495109"/>
                </a:lnTo>
                <a:lnTo>
                  <a:pt x="0" y="649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55039"/>
            <a:ext cx="877661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Fine-tune LLM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55679" y="2047266"/>
            <a:ext cx="12022590" cy="2618557"/>
          </a:xfrm>
          <a:custGeom>
            <a:avLst/>
            <a:gdLst/>
            <a:ahLst/>
            <a:cxnLst/>
            <a:rect r="r" b="b" t="t" l="l"/>
            <a:pathLst>
              <a:path h="2618557" w="12022590">
                <a:moveTo>
                  <a:pt x="0" y="0"/>
                </a:moveTo>
                <a:lnTo>
                  <a:pt x="12022590" y="0"/>
                </a:lnTo>
                <a:lnTo>
                  <a:pt x="12022590" y="2618556"/>
                </a:lnTo>
                <a:lnTo>
                  <a:pt x="0" y="261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932522"/>
            <a:ext cx="7579929" cy="4999214"/>
          </a:xfrm>
          <a:custGeom>
            <a:avLst/>
            <a:gdLst/>
            <a:ahLst/>
            <a:cxnLst/>
            <a:rect r="r" b="b" t="t" l="l"/>
            <a:pathLst>
              <a:path h="4999214" w="7579929">
                <a:moveTo>
                  <a:pt x="0" y="0"/>
                </a:moveTo>
                <a:lnTo>
                  <a:pt x="7579929" y="0"/>
                </a:lnTo>
                <a:lnTo>
                  <a:pt x="7579929" y="4999214"/>
                </a:lnTo>
                <a:lnTo>
                  <a:pt x="0" y="499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5209" y="9525"/>
            <a:ext cx="1269785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Low Level of Detail </a:t>
            </a:r>
          </a:p>
          <a:p>
            <a:pPr algn="l">
              <a:lnSpc>
                <a:spcPts val="119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817673" y="6851739"/>
            <a:ext cx="34565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After fine-tuning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20192" y="2448560"/>
            <a:ext cx="37923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Before fine-tuning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26530" y="6692698"/>
            <a:ext cx="965146" cy="9651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2666658" y="2391398"/>
            <a:ext cx="965146" cy="96514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395209" y="9525"/>
            <a:ext cx="1269785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High Level of Detail </a:t>
            </a:r>
          </a:p>
          <a:p>
            <a:pPr algn="l">
              <a:lnSpc>
                <a:spcPts val="119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8863361" y="7851805"/>
            <a:ext cx="965146" cy="96514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9325693" y="2063804"/>
            <a:ext cx="965146" cy="9651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1918963"/>
            <a:ext cx="7834661" cy="4635116"/>
          </a:xfrm>
          <a:custGeom>
            <a:avLst/>
            <a:gdLst/>
            <a:ahLst/>
            <a:cxnLst/>
            <a:rect r="r" b="b" t="t" l="l"/>
            <a:pathLst>
              <a:path h="4635116" w="7834661">
                <a:moveTo>
                  <a:pt x="0" y="0"/>
                </a:moveTo>
                <a:lnTo>
                  <a:pt x="7834661" y="0"/>
                </a:lnTo>
                <a:lnTo>
                  <a:pt x="7834661" y="4635116"/>
                </a:lnTo>
                <a:lnTo>
                  <a:pt x="0" y="4635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63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08266" y="4099423"/>
            <a:ext cx="7647076" cy="6187577"/>
          </a:xfrm>
          <a:custGeom>
            <a:avLst/>
            <a:gdLst/>
            <a:ahLst/>
            <a:cxnLst/>
            <a:rect r="r" b="b" t="t" l="l"/>
            <a:pathLst>
              <a:path h="6187577" w="7647076">
                <a:moveTo>
                  <a:pt x="0" y="0"/>
                </a:moveTo>
                <a:lnTo>
                  <a:pt x="7647076" y="0"/>
                </a:lnTo>
                <a:lnTo>
                  <a:pt x="7647076" y="6187577"/>
                </a:lnTo>
                <a:lnTo>
                  <a:pt x="0" y="6187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46031" y="8010846"/>
            <a:ext cx="34565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After fine-tuning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88528" y="2222844"/>
            <a:ext cx="37923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Before fine-tuning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558186" y="2248396"/>
            <a:ext cx="12340971" cy="4936388"/>
          </a:xfrm>
          <a:custGeom>
            <a:avLst/>
            <a:gdLst/>
            <a:ahLst/>
            <a:cxnLst/>
            <a:rect r="r" b="b" t="t" l="l"/>
            <a:pathLst>
              <a:path h="4936388" w="12340971">
                <a:moveTo>
                  <a:pt x="0" y="0"/>
                </a:moveTo>
                <a:lnTo>
                  <a:pt x="12340971" y="0"/>
                </a:lnTo>
                <a:lnTo>
                  <a:pt x="12340971" y="4936388"/>
                </a:lnTo>
                <a:lnTo>
                  <a:pt x="0" y="493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23352" y="261105"/>
            <a:ext cx="1269785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Model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82125" y="7234773"/>
            <a:ext cx="182880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Training Loss: A measure of how well the model is learning to predict the desired outputs (completions) from the provided inputs (prompts) during the training process.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11245" y="2012239"/>
            <a:ext cx="11301259" cy="5057313"/>
          </a:xfrm>
          <a:custGeom>
            <a:avLst/>
            <a:gdLst/>
            <a:ahLst/>
            <a:cxnLst/>
            <a:rect r="r" b="b" t="t" l="l"/>
            <a:pathLst>
              <a:path h="5057313" w="11301259">
                <a:moveTo>
                  <a:pt x="0" y="0"/>
                </a:moveTo>
                <a:lnTo>
                  <a:pt x="11301259" y="0"/>
                </a:lnTo>
                <a:lnTo>
                  <a:pt x="11301259" y="5057313"/>
                </a:lnTo>
                <a:lnTo>
                  <a:pt x="0" y="505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23352" y="261105"/>
            <a:ext cx="1269785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Model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7234773"/>
            <a:ext cx="1792375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Token accuracy: measures how often the model correctly predicts the next token (word piece, character, or word) during training.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8350"/>
            <a:ext cx="453412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Structured, hierarchical prompts tailored for  infrastructure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6098" y="7465386"/>
            <a:ext cx="453412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Prompt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62822" y="8388350"/>
            <a:ext cx="4534122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Logical rules based on best practices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67473" y="7327686"/>
            <a:ext cx="611961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Rule-Based </a:t>
            </a:r>
          </a:p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Transformation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945" y="8407614"/>
            <a:ext cx="453412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Enhanced contextual understanding of components and relationships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78512" y="7201174"/>
            <a:ext cx="317098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Fine-Tuning LLMs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-4534122" y="6845086"/>
            <a:ext cx="16898129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098364" y="6661976"/>
            <a:ext cx="394795" cy="39479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32486" y="6690551"/>
            <a:ext cx="394795" cy="394795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66609" y="6647688"/>
            <a:ext cx="394795" cy="394795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7693" y="2837688"/>
            <a:ext cx="7593362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Methodology</a:t>
            </a:r>
          </a:p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Overview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598811"/>
            <a:ext cx="16639824" cy="1268787"/>
          </a:xfrm>
          <a:custGeom>
            <a:avLst/>
            <a:gdLst/>
            <a:ahLst/>
            <a:cxnLst/>
            <a:rect r="r" b="b" t="t" l="l"/>
            <a:pathLst>
              <a:path h="1268787" w="16639824">
                <a:moveTo>
                  <a:pt x="0" y="0"/>
                </a:moveTo>
                <a:lnTo>
                  <a:pt x="16639824" y="0"/>
                </a:lnTo>
                <a:lnTo>
                  <a:pt x="16639824" y="1268787"/>
                </a:lnTo>
                <a:lnTo>
                  <a:pt x="0" y="1268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661244" y="2238933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Synthetic Dataset Creation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9192" y="4111517"/>
            <a:ext cx="95900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Component-Level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1244" y="5398662"/>
            <a:ext cx="153454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Ports, security groups, IP protocols,NAT, routing rules, encryption settings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34067" y="6598811"/>
            <a:ext cx="15672635" cy="2402002"/>
          </a:xfrm>
          <a:custGeom>
            <a:avLst/>
            <a:gdLst/>
            <a:ahLst/>
            <a:cxnLst/>
            <a:rect r="r" b="b" t="t" l="l"/>
            <a:pathLst>
              <a:path h="2402002" w="15672635">
                <a:moveTo>
                  <a:pt x="0" y="0"/>
                </a:moveTo>
                <a:lnTo>
                  <a:pt x="15672634" y="0"/>
                </a:lnTo>
                <a:lnTo>
                  <a:pt x="15672634" y="2402002"/>
                </a:lnTo>
                <a:lnTo>
                  <a:pt x="0" y="2402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1244" y="2238933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Synthetic Dataset Creation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465" y="4111517"/>
            <a:ext cx="98434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Relationship-Level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1244" y="5398662"/>
            <a:ext cx="153454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VPC communication rules, routing paths, firewall permissions, and redundancy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5295" y="4221059"/>
            <a:ext cx="1506810" cy="1506810"/>
          </a:xfrm>
          <a:custGeom>
            <a:avLst/>
            <a:gdLst/>
            <a:ahLst/>
            <a:cxnLst/>
            <a:rect r="r" b="b" t="t" l="l"/>
            <a:pathLst>
              <a:path h="1506810" w="1506810">
                <a:moveTo>
                  <a:pt x="0" y="0"/>
                </a:moveTo>
                <a:lnTo>
                  <a:pt x="1506810" y="0"/>
                </a:lnTo>
                <a:lnTo>
                  <a:pt x="1506810" y="1506810"/>
                </a:lnTo>
                <a:lnTo>
                  <a:pt x="0" y="1506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38649" y="5441189"/>
            <a:ext cx="9156149" cy="4558170"/>
          </a:xfrm>
          <a:custGeom>
            <a:avLst/>
            <a:gdLst/>
            <a:ahLst/>
            <a:cxnLst/>
            <a:rect r="r" b="b" t="t" l="l"/>
            <a:pathLst>
              <a:path h="4558170" w="9156149">
                <a:moveTo>
                  <a:pt x="0" y="0"/>
                </a:moveTo>
                <a:lnTo>
                  <a:pt x="9156149" y="0"/>
                </a:lnTo>
                <a:lnTo>
                  <a:pt x="9156149" y="4558170"/>
                </a:lnTo>
                <a:lnTo>
                  <a:pt x="0" y="4558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1244" y="2238933"/>
            <a:ext cx="1619706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Diagram Generation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3419" y="4526789"/>
            <a:ext cx="1086043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Input structured textual description (Excel sheets or prompts)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7443" y="1872345"/>
            <a:ext cx="1675847" cy="1675847"/>
          </a:xfrm>
          <a:custGeom>
            <a:avLst/>
            <a:gdLst/>
            <a:ahLst/>
            <a:cxnLst/>
            <a:rect r="r" b="b" t="t" l="l"/>
            <a:pathLst>
              <a:path h="1675847" w="1675847">
                <a:moveTo>
                  <a:pt x="0" y="0"/>
                </a:moveTo>
                <a:lnTo>
                  <a:pt x="1675846" y="0"/>
                </a:lnTo>
                <a:lnTo>
                  <a:pt x="1675846" y="1675847"/>
                </a:lnTo>
                <a:lnTo>
                  <a:pt x="0" y="167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8991" y="4214752"/>
            <a:ext cx="13910818" cy="4451462"/>
          </a:xfrm>
          <a:custGeom>
            <a:avLst/>
            <a:gdLst/>
            <a:ahLst/>
            <a:cxnLst/>
            <a:rect r="r" b="b" t="t" l="l"/>
            <a:pathLst>
              <a:path h="4451462" w="13910818">
                <a:moveTo>
                  <a:pt x="0" y="0"/>
                </a:moveTo>
                <a:lnTo>
                  <a:pt x="13910818" y="0"/>
                </a:lnTo>
                <a:lnTo>
                  <a:pt x="13910818" y="4451461"/>
                </a:lnTo>
                <a:lnTo>
                  <a:pt x="0" y="445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78991" y="2195642"/>
            <a:ext cx="14497849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Generate a Mermaid.js diagram using either:</a:t>
            </a:r>
          </a:p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Prompt-based inference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97008" y="2007536"/>
            <a:ext cx="6840019" cy="8131697"/>
          </a:xfrm>
          <a:custGeom>
            <a:avLst/>
            <a:gdLst/>
            <a:ahLst/>
            <a:cxnLst/>
            <a:rect r="r" b="b" t="t" l="l"/>
            <a:pathLst>
              <a:path h="8131697" w="6840019">
                <a:moveTo>
                  <a:pt x="0" y="0"/>
                </a:moveTo>
                <a:lnTo>
                  <a:pt x="6840019" y="0"/>
                </a:lnTo>
                <a:lnTo>
                  <a:pt x="6840019" y="8131696"/>
                </a:lnTo>
                <a:lnTo>
                  <a:pt x="0" y="813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35427" y="2007536"/>
            <a:ext cx="8036310" cy="8131697"/>
          </a:xfrm>
          <a:custGeom>
            <a:avLst/>
            <a:gdLst/>
            <a:ahLst/>
            <a:cxnLst/>
            <a:rect r="r" b="b" t="t" l="l"/>
            <a:pathLst>
              <a:path h="8131697" w="8036310">
                <a:moveTo>
                  <a:pt x="0" y="0"/>
                </a:moveTo>
                <a:lnTo>
                  <a:pt x="8036311" y="0"/>
                </a:lnTo>
                <a:lnTo>
                  <a:pt x="8036311" y="8131696"/>
                </a:lnTo>
                <a:lnTo>
                  <a:pt x="0" y="8131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42319" y="3076001"/>
            <a:ext cx="13084230" cy="6182299"/>
          </a:xfrm>
          <a:custGeom>
            <a:avLst/>
            <a:gdLst/>
            <a:ahLst/>
            <a:cxnLst/>
            <a:rect r="r" b="b" t="t" l="l"/>
            <a:pathLst>
              <a:path h="6182299" w="13084230">
                <a:moveTo>
                  <a:pt x="0" y="0"/>
                </a:moveTo>
                <a:lnTo>
                  <a:pt x="13084230" y="0"/>
                </a:lnTo>
                <a:lnTo>
                  <a:pt x="13084230" y="6182299"/>
                </a:lnTo>
                <a:lnTo>
                  <a:pt x="0" y="618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78310"/>
            <a:ext cx="1449784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Fine-tuned LLM output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618085" y="2607990"/>
            <a:ext cx="8558640" cy="6286800"/>
          </a:xfrm>
          <a:custGeom>
            <a:avLst/>
            <a:gdLst/>
            <a:ahLst/>
            <a:cxnLst/>
            <a:rect r="r" b="b" t="t" l="l"/>
            <a:pathLst>
              <a:path h="6286800" w="8558640">
                <a:moveTo>
                  <a:pt x="0" y="0"/>
                </a:moveTo>
                <a:lnTo>
                  <a:pt x="8558640" y="0"/>
                </a:lnTo>
                <a:lnTo>
                  <a:pt x="8558640" y="6286800"/>
                </a:lnTo>
                <a:lnTo>
                  <a:pt x="0" y="628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61805" y="2715524"/>
            <a:ext cx="13084230" cy="6174121"/>
          </a:xfrm>
          <a:custGeom>
            <a:avLst/>
            <a:gdLst/>
            <a:ahLst/>
            <a:cxnLst/>
            <a:rect r="r" b="b" t="t" l="l"/>
            <a:pathLst>
              <a:path h="6174121" w="13084230">
                <a:moveTo>
                  <a:pt x="0" y="0"/>
                </a:moveTo>
                <a:lnTo>
                  <a:pt x="13084230" y="0"/>
                </a:lnTo>
                <a:lnTo>
                  <a:pt x="13084230" y="6174121"/>
                </a:lnTo>
                <a:lnTo>
                  <a:pt x="0" y="617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7366" y="1975307"/>
            <a:ext cx="1572885" cy="1572885"/>
          </a:xfrm>
          <a:custGeom>
            <a:avLst/>
            <a:gdLst/>
            <a:ahLst/>
            <a:cxnLst/>
            <a:rect r="r" b="b" t="t" l="l"/>
            <a:pathLst>
              <a:path h="1572885" w="1572885">
                <a:moveTo>
                  <a:pt x="0" y="0"/>
                </a:moveTo>
                <a:lnTo>
                  <a:pt x="1572885" y="0"/>
                </a:lnTo>
                <a:lnTo>
                  <a:pt x="1572885" y="1572885"/>
                </a:lnTo>
                <a:lnTo>
                  <a:pt x="0" y="1572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40451" y="1975307"/>
            <a:ext cx="5688093" cy="8081833"/>
          </a:xfrm>
          <a:custGeom>
            <a:avLst/>
            <a:gdLst/>
            <a:ahLst/>
            <a:cxnLst/>
            <a:rect r="r" b="b" t="t" l="l"/>
            <a:pathLst>
              <a:path h="8081833" w="5688093">
                <a:moveTo>
                  <a:pt x="0" y="0"/>
                </a:moveTo>
                <a:lnTo>
                  <a:pt x="5688093" y="0"/>
                </a:lnTo>
                <a:lnTo>
                  <a:pt x="5688093" y="8081833"/>
                </a:lnTo>
                <a:lnTo>
                  <a:pt x="0" y="8081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3" r="0" b="-86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30695" y="2195642"/>
            <a:ext cx="14497849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Render Mermaid.js syntax 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into visual networking diagrams</a:t>
            </a:r>
          </a:p>
          <a:p>
            <a:pPr algn="l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4848" y="1975307"/>
            <a:ext cx="1437517" cy="1437517"/>
          </a:xfrm>
          <a:custGeom>
            <a:avLst/>
            <a:gdLst/>
            <a:ahLst/>
            <a:cxnLst/>
            <a:rect r="r" b="b" t="t" l="l"/>
            <a:pathLst>
              <a:path h="1437517" w="1437517">
                <a:moveTo>
                  <a:pt x="0" y="0"/>
                </a:moveTo>
                <a:lnTo>
                  <a:pt x="1437517" y="0"/>
                </a:lnTo>
                <a:lnTo>
                  <a:pt x="1437517" y="1437517"/>
                </a:lnTo>
                <a:lnTo>
                  <a:pt x="0" y="1437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07457" y="3195767"/>
            <a:ext cx="11757220" cy="6488016"/>
          </a:xfrm>
          <a:custGeom>
            <a:avLst/>
            <a:gdLst/>
            <a:ahLst/>
            <a:cxnLst/>
            <a:rect r="r" b="b" t="t" l="l"/>
            <a:pathLst>
              <a:path h="6488016" w="11757220">
                <a:moveTo>
                  <a:pt x="0" y="0"/>
                </a:moveTo>
                <a:lnTo>
                  <a:pt x="11757221" y="0"/>
                </a:lnTo>
                <a:lnTo>
                  <a:pt x="11757221" y="6488016"/>
                </a:lnTo>
                <a:lnTo>
                  <a:pt x="0" y="6488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30695" y="2195642"/>
            <a:ext cx="1449784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Validate diagrams against official AWS architecture references</a:t>
            </a:r>
          </a:p>
          <a:p>
            <a:pPr algn="l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391025" y="2045896"/>
            <a:ext cx="10868275" cy="7789369"/>
          </a:xfrm>
          <a:custGeom>
            <a:avLst/>
            <a:gdLst/>
            <a:ahLst/>
            <a:cxnLst/>
            <a:rect r="r" b="b" t="t" l="l"/>
            <a:pathLst>
              <a:path h="7789369" w="10868275">
                <a:moveTo>
                  <a:pt x="0" y="0"/>
                </a:moveTo>
                <a:lnTo>
                  <a:pt x="10868275" y="0"/>
                </a:lnTo>
                <a:lnTo>
                  <a:pt x="10868275" y="7789368"/>
                </a:lnTo>
                <a:lnTo>
                  <a:pt x="0" y="7789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5491" y="1755132"/>
            <a:ext cx="12911028" cy="6776736"/>
          </a:xfrm>
          <a:custGeom>
            <a:avLst/>
            <a:gdLst/>
            <a:ahLst/>
            <a:cxnLst/>
            <a:rect r="r" b="b" t="t" l="l"/>
            <a:pathLst>
              <a:path h="6776736" w="12911028">
                <a:moveTo>
                  <a:pt x="0" y="0"/>
                </a:moveTo>
                <a:lnTo>
                  <a:pt x="12911028" y="0"/>
                </a:lnTo>
                <a:lnTo>
                  <a:pt x="12911028" y="6776736"/>
                </a:lnTo>
                <a:lnTo>
                  <a:pt x="0" y="6776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999" y="3617394"/>
            <a:ext cx="811530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Our final</a:t>
            </a:r>
          </a:p>
          <a:p>
            <a:pPr algn="l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version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7249" y="3767733"/>
            <a:ext cx="6596835" cy="2574000"/>
            <a:chOff x="0" y="0"/>
            <a:chExt cx="6151477" cy="24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47306" y="6877484"/>
            <a:ext cx="6596835" cy="2574000"/>
            <a:chOff x="0" y="0"/>
            <a:chExt cx="6151477" cy="24002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62465" y="3767733"/>
            <a:ext cx="6596835" cy="2574000"/>
            <a:chOff x="0" y="0"/>
            <a:chExt cx="6151477" cy="24002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61244" y="2096099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Results &amp; Evaluation Metrics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3301135" y="4176659"/>
            <a:ext cx="4167039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Syntax Validity: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Ensured outputs compile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into valid Mermaid diagram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6436" y="7412009"/>
            <a:ext cx="4438576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Structural Completeness: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Components and connectivity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accurately depicted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1595" y="4176659"/>
            <a:ext cx="4438576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Consistency: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Repeated accuracy across similar prompts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07040" y="4821334"/>
            <a:ext cx="3993857" cy="773093"/>
            <a:chOff x="0" y="0"/>
            <a:chExt cx="3411676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07040" y="5737302"/>
            <a:ext cx="3993857" cy="773093"/>
            <a:chOff x="0" y="0"/>
            <a:chExt cx="3411676" cy="66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07040" y="6653271"/>
            <a:ext cx="3993857" cy="773093"/>
            <a:chOff x="0" y="0"/>
            <a:chExt cx="3411676" cy="66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07040" y="3902206"/>
            <a:ext cx="3993857" cy="773093"/>
            <a:chOff x="0" y="0"/>
            <a:chExt cx="3411676" cy="66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86241" y="4821334"/>
            <a:ext cx="3993857" cy="773093"/>
            <a:chOff x="0" y="0"/>
            <a:chExt cx="3411676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86241" y="5737302"/>
            <a:ext cx="3993857" cy="773093"/>
            <a:chOff x="0" y="0"/>
            <a:chExt cx="3411676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86241" y="6653271"/>
            <a:ext cx="3993857" cy="773093"/>
            <a:chOff x="0" y="0"/>
            <a:chExt cx="3411676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86241" y="3902206"/>
            <a:ext cx="3993857" cy="773093"/>
            <a:chOff x="0" y="0"/>
            <a:chExt cx="3411676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265443" y="4821334"/>
            <a:ext cx="3993857" cy="773093"/>
            <a:chOff x="0" y="0"/>
            <a:chExt cx="3411676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265443" y="5737302"/>
            <a:ext cx="3993857" cy="773093"/>
            <a:chOff x="0" y="0"/>
            <a:chExt cx="3411676" cy="660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65443" y="6653271"/>
            <a:ext cx="3993857" cy="773093"/>
            <a:chOff x="0" y="0"/>
            <a:chExt cx="3411676" cy="660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65443" y="3902206"/>
            <a:ext cx="3993857" cy="773093"/>
            <a:chOff x="0" y="0"/>
            <a:chExt cx="3411676" cy="660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764015" y="4922915"/>
            <a:ext cx="1343025" cy="134302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028700"/>
            <a:ext cx="722947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178112" y="4093490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Prompting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57313" y="4093490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Rule Based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36515" y="4093490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Fine-tuning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9772" y="1680527"/>
            <a:ext cx="72294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Technique Evaluation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07040" y="5012618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Fast iteration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07040" y="5928586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Reusable templates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28385" y="5927802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 accuracy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86241" y="4948237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Deterministic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36515" y="4948237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Strong generalisation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36515" y="5928586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Better context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07040" y="6673889"/>
            <a:ext cx="38517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Inconsistent with edge cases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57313" y="6673889"/>
            <a:ext cx="38517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Labor-intensive rule updates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36515" y="6658817"/>
            <a:ext cx="38517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 compute cost, overfitting risks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2795" y="5384093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Strengths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1723" y="6797706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Limitations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846618" y="6510396"/>
            <a:ext cx="965146" cy="965146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0287" y="550144"/>
            <a:ext cx="148552" cy="198069"/>
          </a:xfrm>
          <a:custGeom>
            <a:avLst/>
            <a:gdLst/>
            <a:ahLst/>
            <a:cxnLst/>
            <a:rect r="r" b="b" t="t" l="l"/>
            <a:pathLst>
              <a:path h="198069" w="148552">
                <a:moveTo>
                  <a:pt x="0" y="0"/>
                </a:moveTo>
                <a:lnTo>
                  <a:pt x="148552" y="0"/>
                </a:lnTo>
                <a:lnTo>
                  <a:pt x="148552" y="198069"/>
                </a:lnTo>
                <a:lnTo>
                  <a:pt x="0" y="19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3240" y="550144"/>
            <a:ext cx="148552" cy="198069"/>
          </a:xfrm>
          <a:custGeom>
            <a:avLst/>
            <a:gdLst/>
            <a:ahLst/>
            <a:cxnLst/>
            <a:rect r="r" b="b" t="t" l="l"/>
            <a:pathLst>
              <a:path h="198069" w="148552">
                <a:moveTo>
                  <a:pt x="0" y="0"/>
                </a:moveTo>
                <a:lnTo>
                  <a:pt x="148552" y="0"/>
                </a:lnTo>
                <a:lnTo>
                  <a:pt x="148552" y="198069"/>
                </a:lnTo>
                <a:lnTo>
                  <a:pt x="0" y="19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2430" y="550144"/>
            <a:ext cx="148552" cy="198069"/>
          </a:xfrm>
          <a:custGeom>
            <a:avLst/>
            <a:gdLst/>
            <a:ahLst/>
            <a:cxnLst/>
            <a:rect r="r" b="b" t="t" l="l"/>
            <a:pathLst>
              <a:path h="198069" w="148552">
                <a:moveTo>
                  <a:pt x="0" y="0"/>
                </a:moveTo>
                <a:lnTo>
                  <a:pt x="148552" y="0"/>
                </a:lnTo>
                <a:lnTo>
                  <a:pt x="148552" y="198069"/>
                </a:lnTo>
                <a:lnTo>
                  <a:pt x="0" y="19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32136" y="1738162"/>
            <a:ext cx="9227074" cy="2420339"/>
            <a:chOff x="0" y="0"/>
            <a:chExt cx="2853091" cy="748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3091" cy="748390"/>
            </a:xfrm>
            <a:custGeom>
              <a:avLst/>
              <a:gdLst/>
              <a:ahLst/>
              <a:cxnLst/>
              <a:rect r="r" b="b" t="t" l="l"/>
              <a:pathLst>
                <a:path h="748390" w="2853091">
                  <a:moveTo>
                    <a:pt x="42791" y="0"/>
                  </a:moveTo>
                  <a:lnTo>
                    <a:pt x="2810299" y="0"/>
                  </a:lnTo>
                  <a:cubicBezTo>
                    <a:pt x="2833932" y="0"/>
                    <a:pt x="2853091" y="19158"/>
                    <a:pt x="2853091" y="42791"/>
                  </a:cubicBezTo>
                  <a:lnTo>
                    <a:pt x="2853091" y="705599"/>
                  </a:lnTo>
                  <a:cubicBezTo>
                    <a:pt x="2853091" y="729231"/>
                    <a:pt x="2833932" y="748390"/>
                    <a:pt x="2810299" y="748390"/>
                  </a:cubicBezTo>
                  <a:lnTo>
                    <a:pt x="42791" y="748390"/>
                  </a:lnTo>
                  <a:cubicBezTo>
                    <a:pt x="19158" y="748390"/>
                    <a:pt x="0" y="729231"/>
                    <a:pt x="0" y="705599"/>
                  </a:cubicBezTo>
                  <a:lnTo>
                    <a:pt x="0" y="42791"/>
                  </a:lnTo>
                  <a:cubicBezTo>
                    <a:pt x="0" y="19158"/>
                    <a:pt x="19158" y="0"/>
                    <a:pt x="42791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853091" cy="710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136" y="6619844"/>
            <a:ext cx="9227074" cy="2420339"/>
            <a:chOff x="0" y="0"/>
            <a:chExt cx="2853091" cy="7483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3091" cy="748390"/>
            </a:xfrm>
            <a:custGeom>
              <a:avLst/>
              <a:gdLst/>
              <a:ahLst/>
              <a:cxnLst/>
              <a:rect r="r" b="b" t="t" l="l"/>
              <a:pathLst>
                <a:path h="748390" w="2853091">
                  <a:moveTo>
                    <a:pt x="42791" y="0"/>
                  </a:moveTo>
                  <a:lnTo>
                    <a:pt x="2810299" y="0"/>
                  </a:lnTo>
                  <a:cubicBezTo>
                    <a:pt x="2833932" y="0"/>
                    <a:pt x="2853091" y="19158"/>
                    <a:pt x="2853091" y="42791"/>
                  </a:cubicBezTo>
                  <a:lnTo>
                    <a:pt x="2853091" y="705599"/>
                  </a:lnTo>
                  <a:cubicBezTo>
                    <a:pt x="2853091" y="729231"/>
                    <a:pt x="2833932" y="748390"/>
                    <a:pt x="2810299" y="748390"/>
                  </a:cubicBezTo>
                  <a:lnTo>
                    <a:pt x="42791" y="748390"/>
                  </a:lnTo>
                  <a:cubicBezTo>
                    <a:pt x="19158" y="748390"/>
                    <a:pt x="0" y="729231"/>
                    <a:pt x="0" y="705599"/>
                  </a:cubicBezTo>
                  <a:lnTo>
                    <a:pt x="0" y="42791"/>
                  </a:lnTo>
                  <a:cubicBezTo>
                    <a:pt x="0" y="19158"/>
                    <a:pt x="19158" y="0"/>
                    <a:pt x="42791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2853091" cy="710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99106" y="2380206"/>
            <a:ext cx="1191270" cy="119127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99106" y="7234378"/>
            <a:ext cx="1191270" cy="1191270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0">
            <a:off x="1446631" y="7144910"/>
            <a:ext cx="443275" cy="369127"/>
          </a:xfrm>
          <a:custGeom>
            <a:avLst/>
            <a:gdLst/>
            <a:ahLst/>
            <a:cxnLst/>
            <a:rect r="r" b="b" t="t" l="l"/>
            <a:pathLst>
              <a:path h="369127" w="443275">
                <a:moveTo>
                  <a:pt x="0" y="0"/>
                </a:moveTo>
                <a:lnTo>
                  <a:pt x="443275" y="0"/>
                </a:lnTo>
                <a:lnTo>
                  <a:pt x="443275" y="369126"/>
                </a:lnTo>
                <a:lnTo>
                  <a:pt x="0" y="369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697484" y="8585316"/>
            <a:ext cx="486765" cy="397322"/>
          </a:xfrm>
          <a:custGeom>
            <a:avLst/>
            <a:gdLst/>
            <a:ahLst/>
            <a:cxnLst/>
            <a:rect r="r" b="b" t="t" l="l"/>
            <a:pathLst>
              <a:path h="397322" w="486765">
                <a:moveTo>
                  <a:pt x="0" y="0"/>
                </a:moveTo>
                <a:lnTo>
                  <a:pt x="486765" y="0"/>
                </a:lnTo>
                <a:lnTo>
                  <a:pt x="486765" y="397323"/>
                </a:lnTo>
                <a:lnTo>
                  <a:pt x="0" y="397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2001" y="8585316"/>
            <a:ext cx="516003" cy="397322"/>
          </a:xfrm>
          <a:custGeom>
            <a:avLst/>
            <a:gdLst/>
            <a:ahLst/>
            <a:cxnLst/>
            <a:rect r="r" b="b" t="t" l="l"/>
            <a:pathLst>
              <a:path h="397322" w="516003">
                <a:moveTo>
                  <a:pt x="0" y="0"/>
                </a:moveTo>
                <a:lnTo>
                  <a:pt x="516003" y="0"/>
                </a:lnTo>
                <a:lnTo>
                  <a:pt x="516003" y="397323"/>
                </a:lnTo>
                <a:lnTo>
                  <a:pt x="0" y="397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787219" y="942121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4761149" y="2027743"/>
            <a:ext cx="1532602" cy="1524939"/>
          </a:xfrm>
          <a:custGeom>
            <a:avLst/>
            <a:gdLst/>
            <a:ahLst/>
            <a:cxnLst/>
            <a:rect r="r" b="b" t="t" l="l"/>
            <a:pathLst>
              <a:path h="1524939" w="1532602">
                <a:moveTo>
                  <a:pt x="0" y="0"/>
                </a:moveTo>
                <a:lnTo>
                  <a:pt x="1532602" y="0"/>
                </a:lnTo>
                <a:lnTo>
                  <a:pt x="1532602" y="1524939"/>
                </a:lnTo>
                <a:lnTo>
                  <a:pt x="0" y="1524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983670" y="554881"/>
            <a:ext cx="5275630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Monthly Ad Performance Report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8610" y="4625226"/>
            <a:ext cx="4093579" cy="68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Review of top-performing </a:t>
            </a:r>
          </a:p>
          <a:p>
            <a:pPr algn="l" marL="0" indent="0" lvl="1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 creatives and their impact.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47643" y="2323492"/>
            <a:ext cx="2576444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620"/>
              </a:lnSpc>
            </a:pPr>
            <a:r>
              <a:rPr lang="en-US" b="true" sz="2800" spc="-9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Fine-tuned outputs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51683" y="7205174"/>
            <a:ext cx="2572404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620"/>
              </a:lnSpc>
            </a:pPr>
            <a:r>
              <a:rPr lang="en-US" b="true" sz="2800" spc="-9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Prompt-Only Outputs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42504" y="2402748"/>
            <a:ext cx="205697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70"/>
              </a:lnSpc>
            </a:pPr>
            <a:r>
              <a:rPr lang="en-US" sz="1800" spc="-6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Validation tests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4175" y="7068710"/>
            <a:ext cx="205697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70"/>
              </a:lnSpc>
            </a:pPr>
            <a:r>
              <a:rPr lang="en-US" sz="1800" spc="-6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Correctness Tests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52470" y="2914038"/>
            <a:ext cx="2047008" cy="55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05"/>
              </a:lnSpc>
            </a:pPr>
            <a:r>
              <a:rPr lang="en-US" b="true" sz="4500" spc="-1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85%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45673" y="7768210"/>
            <a:ext cx="2047008" cy="55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05"/>
              </a:lnSpc>
            </a:pPr>
            <a:r>
              <a:rPr lang="en-US" b="true" sz="4500" spc="-1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60</a:t>
            </a:r>
            <a:r>
              <a:rPr lang="en-US" b="true" sz="4500" spc="-15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1146452" y="1327376"/>
            <a:ext cx="10290452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Peformance</a:t>
            </a:r>
          </a:p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 Comparison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868880" y="7060377"/>
            <a:ext cx="1532602" cy="1524939"/>
          </a:xfrm>
          <a:custGeom>
            <a:avLst/>
            <a:gdLst/>
            <a:ahLst/>
            <a:cxnLst/>
            <a:rect r="r" b="b" t="t" l="l"/>
            <a:pathLst>
              <a:path h="1524939" w="1532602">
                <a:moveTo>
                  <a:pt x="0" y="0"/>
                </a:moveTo>
                <a:lnTo>
                  <a:pt x="1532603" y="0"/>
                </a:lnTo>
                <a:lnTo>
                  <a:pt x="1532603" y="1524939"/>
                </a:lnTo>
                <a:lnTo>
                  <a:pt x="0" y="1524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327656" y="1929819"/>
            <a:ext cx="1438127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Before  vs.  After Fine Tuning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639555"/>
            <a:ext cx="7314595" cy="2626314"/>
            <a:chOff x="0" y="0"/>
            <a:chExt cx="6503969" cy="23352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3969" cy="2335258"/>
            </a:xfrm>
            <a:custGeom>
              <a:avLst/>
              <a:gdLst/>
              <a:ahLst/>
              <a:cxnLst/>
              <a:rect r="r" b="b" t="t" l="l"/>
              <a:pathLst>
                <a:path h="2335258" w="6503969">
                  <a:moveTo>
                    <a:pt x="6379509" y="59690"/>
                  </a:moveTo>
                  <a:cubicBezTo>
                    <a:pt x="6415069" y="59690"/>
                    <a:pt x="6444279" y="88900"/>
                    <a:pt x="6444279" y="124460"/>
                  </a:cubicBezTo>
                  <a:lnTo>
                    <a:pt x="6444279" y="2210798"/>
                  </a:lnTo>
                  <a:cubicBezTo>
                    <a:pt x="6444279" y="2246358"/>
                    <a:pt x="6415069" y="2275568"/>
                    <a:pt x="6379509" y="2275568"/>
                  </a:cubicBezTo>
                  <a:lnTo>
                    <a:pt x="124460" y="2275568"/>
                  </a:lnTo>
                  <a:cubicBezTo>
                    <a:pt x="88900" y="2275568"/>
                    <a:pt x="59690" y="2246358"/>
                    <a:pt x="59690" y="221079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379509" y="59690"/>
                  </a:lnTo>
                  <a:moveTo>
                    <a:pt x="63795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10798"/>
                  </a:lnTo>
                  <a:cubicBezTo>
                    <a:pt x="0" y="2279378"/>
                    <a:pt x="55880" y="2335258"/>
                    <a:pt x="124460" y="2335258"/>
                  </a:cubicBezTo>
                  <a:lnTo>
                    <a:pt x="6379509" y="2335258"/>
                  </a:lnTo>
                  <a:cubicBezTo>
                    <a:pt x="6448089" y="2335258"/>
                    <a:pt x="6503969" y="2279378"/>
                    <a:pt x="6503969" y="2210798"/>
                  </a:cubicBezTo>
                  <a:lnTo>
                    <a:pt x="6503969" y="124460"/>
                  </a:lnTo>
                  <a:cubicBezTo>
                    <a:pt x="6503969" y="55880"/>
                    <a:pt x="6448089" y="0"/>
                    <a:pt x="6379509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44705" y="5639555"/>
            <a:ext cx="7314595" cy="2626314"/>
            <a:chOff x="0" y="0"/>
            <a:chExt cx="6503969" cy="23352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03969" cy="2335258"/>
            </a:xfrm>
            <a:custGeom>
              <a:avLst/>
              <a:gdLst/>
              <a:ahLst/>
              <a:cxnLst/>
              <a:rect r="r" b="b" t="t" l="l"/>
              <a:pathLst>
                <a:path h="2335258" w="6503969">
                  <a:moveTo>
                    <a:pt x="6379509" y="59690"/>
                  </a:moveTo>
                  <a:cubicBezTo>
                    <a:pt x="6415069" y="59690"/>
                    <a:pt x="6444279" y="88900"/>
                    <a:pt x="6444279" y="124460"/>
                  </a:cubicBezTo>
                  <a:lnTo>
                    <a:pt x="6444279" y="2210798"/>
                  </a:lnTo>
                  <a:cubicBezTo>
                    <a:pt x="6444279" y="2246358"/>
                    <a:pt x="6415069" y="2275568"/>
                    <a:pt x="6379509" y="2275568"/>
                  </a:cubicBezTo>
                  <a:lnTo>
                    <a:pt x="124460" y="2275568"/>
                  </a:lnTo>
                  <a:cubicBezTo>
                    <a:pt x="88900" y="2275568"/>
                    <a:pt x="59690" y="2246358"/>
                    <a:pt x="59690" y="221079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379509" y="59690"/>
                  </a:lnTo>
                  <a:moveTo>
                    <a:pt x="63795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10798"/>
                  </a:lnTo>
                  <a:cubicBezTo>
                    <a:pt x="0" y="2279378"/>
                    <a:pt x="55880" y="2335258"/>
                    <a:pt x="124460" y="2335258"/>
                  </a:cubicBezTo>
                  <a:lnTo>
                    <a:pt x="6379509" y="2335258"/>
                  </a:lnTo>
                  <a:cubicBezTo>
                    <a:pt x="6448089" y="2335258"/>
                    <a:pt x="6503969" y="2279378"/>
                    <a:pt x="6503969" y="2210798"/>
                  </a:cubicBezTo>
                  <a:lnTo>
                    <a:pt x="6503969" y="124460"/>
                  </a:lnTo>
                  <a:cubicBezTo>
                    <a:pt x="6503969" y="55880"/>
                    <a:pt x="6448089" y="0"/>
                    <a:pt x="6379509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648200"/>
            <a:ext cx="3993857" cy="773093"/>
            <a:chOff x="0" y="0"/>
            <a:chExt cx="3411676" cy="66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44705" y="4648200"/>
            <a:ext cx="3993857" cy="773093"/>
            <a:chOff x="0" y="0"/>
            <a:chExt cx="3411676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9772" y="4839484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Before Fine-Tuning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15777" y="4839484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After Fine-Tuning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9343" y="6257388"/>
            <a:ext cx="567330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Low-detail, limited clarity in complex scenarios.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Inconsistent labeling and relationships.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765348" y="6013842"/>
            <a:ext cx="567330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Enhanced detail, clear network relationships, improved component placement.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Improved visualization of security groups, routes, and subnet layers.</a:t>
            </a:r>
          </a:p>
          <a:p>
            <a:pPr algn="l">
              <a:lnSpc>
                <a:spcPts val="2760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51602" y="1366402"/>
            <a:ext cx="9098244" cy="3311305"/>
            <a:chOff x="0" y="0"/>
            <a:chExt cx="2650772" cy="9647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50772" cy="964748"/>
            </a:xfrm>
            <a:custGeom>
              <a:avLst/>
              <a:gdLst/>
              <a:ahLst/>
              <a:cxnLst/>
              <a:rect r="r" b="b" t="t" l="l"/>
              <a:pathLst>
                <a:path h="964748" w="2650772">
                  <a:moveTo>
                    <a:pt x="0" y="0"/>
                  </a:moveTo>
                  <a:lnTo>
                    <a:pt x="2650772" y="0"/>
                  </a:lnTo>
                  <a:lnTo>
                    <a:pt x="2650772" y="964748"/>
                  </a:lnTo>
                  <a:lnTo>
                    <a:pt x="0" y="964748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50772" cy="1002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2295" y="5892597"/>
            <a:ext cx="6533915" cy="1496872"/>
            <a:chOff x="0" y="0"/>
            <a:chExt cx="3165053" cy="7250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5054" cy="725091"/>
            </a:xfrm>
            <a:custGeom>
              <a:avLst/>
              <a:gdLst/>
              <a:ahLst/>
              <a:cxnLst/>
              <a:rect r="r" b="b" t="t" l="l"/>
              <a:pathLst>
                <a:path h="725091" w="3165054">
                  <a:moveTo>
                    <a:pt x="0" y="0"/>
                  </a:moveTo>
                  <a:lnTo>
                    <a:pt x="3165054" y="0"/>
                  </a:lnTo>
                  <a:lnTo>
                    <a:pt x="3165054" y="725091"/>
                  </a:lnTo>
                  <a:lnTo>
                    <a:pt x="0" y="725091"/>
                  </a:lnTo>
                  <a:close/>
                </a:path>
              </a:pathLst>
            </a:custGeom>
            <a:solidFill>
              <a:srgbClr val="49586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65053" cy="763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9745" y="6178483"/>
            <a:ext cx="925100" cy="925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21F2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42295" y="7554973"/>
            <a:ext cx="6533915" cy="1496872"/>
            <a:chOff x="0" y="0"/>
            <a:chExt cx="3165053" cy="7250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5054" cy="725091"/>
            </a:xfrm>
            <a:custGeom>
              <a:avLst/>
              <a:gdLst/>
              <a:ahLst/>
              <a:cxnLst/>
              <a:rect r="r" b="b" t="t" l="l"/>
              <a:pathLst>
                <a:path h="725091" w="3165054">
                  <a:moveTo>
                    <a:pt x="0" y="0"/>
                  </a:moveTo>
                  <a:lnTo>
                    <a:pt x="3165054" y="0"/>
                  </a:lnTo>
                  <a:lnTo>
                    <a:pt x="3165054" y="725091"/>
                  </a:lnTo>
                  <a:lnTo>
                    <a:pt x="0" y="725091"/>
                  </a:lnTo>
                  <a:close/>
                </a:path>
              </a:pathLst>
            </a:custGeom>
            <a:solidFill>
              <a:srgbClr val="49586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65053" cy="763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79745" y="7840859"/>
            <a:ext cx="925100" cy="925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21F2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299938" y="6289513"/>
            <a:ext cx="5553457" cy="60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8"/>
              </a:lnSpc>
              <a:spcBef>
                <a:spcPct val="0"/>
              </a:spcBef>
            </a:pPr>
            <a:r>
              <a:rPr lang="en-US" sz="172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Pre-trained generative models (e.g., GPT-4) are strong foundations for fine-tuning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99938" y="7982354"/>
            <a:ext cx="5553457" cy="60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8"/>
              </a:lnSpc>
              <a:spcBef>
                <a:spcPct val="0"/>
              </a:spcBef>
            </a:pPr>
            <a:r>
              <a:rPr lang="en-US" sz="172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structure directly impacts model accuracy and generalizability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36939" y="753419"/>
            <a:ext cx="5423008" cy="4849849"/>
            <a:chOff x="0" y="0"/>
            <a:chExt cx="1428282" cy="1277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8282" cy="1277327"/>
            </a:xfrm>
            <a:custGeom>
              <a:avLst/>
              <a:gdLst/>
              <a:ahLst/>
              <a:cxnLst/>
              <a:rect r="r" b="b" t="t" l="l"/>
              <a:pathLst>
                <a:path h="1277327" w="1428282">
                  <a:moveTo>
                    <a:pt x="0" y="0"/>
                  </a:moveTo>
                  <a:lnTo>
                    <a:pt x="1428282" y="0"/>
                  </a:lnTo>
                  <a:lnTo>
                    <a:pt x="1428282" y="1277327"/>
                  </a:lnTo>
                  <a:lnTo>
                    <a:pt x="0" y="12773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28282" cy="1305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1041776"/>
            <a:ext cx="6884587" cy="5089760"/>
            <a:chOff x="0" y="0"/>
            <a:chExt cx="1066603" cy="788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6603" cy="788537"/>
            </a:xfrm>
            <a:custGeom>
              <a:avLst/>
              <a:gdLst/>
              <a:ahLst/>
              <a:cxnLst/>
              <a:rect r="r" b="b" t="t" l="l"/>
              <a:pathLst>
                <a:path h="788537" w="1066603">
                  <a:moveTo>
                    <a:pt x="0" y="0"/>
                  </a:moveTo>
                  <a:lnTo>
                    <a:pt x="1066603" y="0"/>
                  </a:lnTo>
                  <a:lnTo>
                    <a:pt x="1066603" y="788537"/>
                  </a:lnTo>
                  <a:lnTo>
                    <a:pt x="0" y="788537"/>
                  </a:lnTo>
                  <a:close/>
                </a:path>
              </a:pathLst>
            </a:custGeom>
            <a:blipFill>
              <a:blip r:embed="rId3"/>
              <a:stretch>
                <a:fillRect l="-5447" t="0" r="-5447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39470" y="1442615"/>
            <a:ext cx="4669782" cy="72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1"/>
              </a:lnSpc>
              <a:spcBef>
                <a:spcPct val="0"/>
              </a:spcBef>
            </a:pPr>
            <a:r>
              <a:rPr lang="en-US" sz="4265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Challenges: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53298" y="4886902"/>
            <a:ext cx="4513062" cy="72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3"/>
              </a:lnSpc>
              <a:spcBef>
                <a:spcPct val="0"/>
              </a:spcBef>
            </a:pPr>
            <a:r>
              <a:rPr lang="en-US" sz="426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Learnings: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39470" y="2195481"/>
            <a:ext cx="8325600" cy="229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Model Selection: Balancing generative power and domain-specific accuracy</a:t>
            </a:r>
          </a:p>
          <a:p>
            <a:pPr algn="just">
              <a:lnSpc>
                <a:spcPts val="2215"/>
              </a:lnSpc>
              <a:spcBef>
                <a:spcPct val="0"/>
              </a:spcBef>
            </a:pPr>
          </a:p>
          <a:p>
            <a:pPr algn="just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Semantic Conflicts: Confusion between similar AWS services (e.g., EC2 vs. Fargate)</a:t>
            </a:r>
          </a:p>
          <a:p>
            <a:pPr algn="just">
              <a:lnSpc>
                <a:spcPts val="2215"/>
              </a:lnSpc>
              <a:spcBef>
                <a:spcPct val="0"/>
              </a:spcBef>
            </a:pPr>
          </a:p>
          <a:p>
            <a:pPr algn="just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Mermaid Limitations: Limited icon sets restricted visual clarity</a:t>
            </a:r>
          </a:p>
          <a:p>
            <a:pPr algn="just">
              <a:lnSpc>
                <a:spcPts val="2915"/>
              </a:lnSpc>
              <a:spcBef>
                <a:spcPct val="0"/>
              </a:spcBef>
            </a:pPr>
          </a:p>
          <a:p>
            <a:pPr algn="just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Over-Specification: Excessive detail led to inaccuracies</a:t>
            </a:r>
          </a:p>
          <a:p>
            <a:pPr algn="just">
              <a:lnSpc>
                <a:spcPts val="2215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353298" y="6418144"/>
            <a:ext cx="577994" cy="445778"/>
          </a:xfrm>
          <a:custGeom>
            <a:avLst/>
            <a:gdLst/>
            <a:ahLst/>
            <a:cxnLst/>
            <a:rect r="r" b="b" t="t" l="l"/>
            <a:pathLst>
              <a:path h="445778" w="577994">
                <a:moveTo>
                  <a:pt x="0" y="0"/>
                </a:moveTo>
                <a:lnTo>
                  <a:pt x="577993" y="0"/>
                </a:lnTo>
                <a:lnTo>
                  <a:pt x="577993" y="445778"/>
                </a:lnTo>
                <a:lnTo>
                  <a:pt x="0" y="445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53298" y="8080520"/>
            <a:ext cx="577994" cy="445778"/>
          </a:xfrm>
          <a:custGeom>
            <a:avLst/>
            <a:gdLst/>
            <a:ahLst/>
            <a:cxnLst/>
            <a:rect r="r" b="b" t="t" l="l"/>
            <a:pathLst>
              <a:path h="445778" w="577994">
                <a:moveTo>
                  <a:pt x="0" y="0"/>
                </a:moveTo>
                <a:lnTo>
                  <a:pt x="577993" y="0"/>
                </a:lnTo>
                <a:lnTo>
                  <a:pt x="577993" y="445778"/>
                </a:lnTo>
                <a:lnTo>
                  <a:pt x="0" y="445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-2373925" y="6873447"/>
            <a:ext cx="1438127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b="true" sz="6200" i="true" spc="-303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Challenges &amp; Learnings</a:t>
            </a:r>
          </a:p>
        </p:txBody>
      </p:sp>
      <p:sp>
        <p:nvSpPr>
          <p:cNvPr name="AutoShape 31" id="31"/>
          <p:cNvSpPr/>
          <p:nvPr/>
        </p:nvSpPr>
        <p:spPr>
          <a:xfrm>
            <a:off x="-202013" y="8213382"/>
            <a:ext cx="10121258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2987" y="579031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1884" y="2716349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884" y="4311251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1884" y="5856359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1884" y="7451150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1153" y="8566387"/>
            <a:ext cx="2408858" cy="1720613"/>
          </a:xfrm>
          <a:custGeom>
            <a:avLst/>
            <a:gdLst/>
            <a:ahLst/>
            <a:cxnLst/>
            <a:rect r="r" b="b" t="t" l="l"/>
            <a:pathLst>
              <a:path h="1720613" w="2408858">
                <a:moveTo>
                  <a:pt x="0" y="0"/>
                </a:moveTo>
                <a:lnTo>
                  <a:pt x="2408858" y="0"/>
                </a:lnTo>
                <a:lnTo>
                  <a:pt x="2408858" y="1720613"/>
                </a:lnTo>
                <a:lnTo>
                  <a:pt x="0" y="1720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73919" y="2263500"/>
            <a:ext cx="4383325" cy="2465620"/>
          </a:xfrm>
          <a:custGeom>
            <a:avLst/>
            <a:gdLst/>
            <a:ahLst/>
            <a:cxnLst/>
            <a:rect r="r" b="b" t="t" l="l"/>
            <a:pathLst>
              <a:path h="2465620" w="4383325">
                <a:moveTo>
                  <a:pt x="0" y="0"/>
                </a:moveTo>
                <a:lnTo>
                  <a:pt x="4383325" y="0"/>
                </a:lnTo>
                <a:lnTo>
                  <a:pt x="4383325" y="2465620"/>
                </a:lnTo>
                <a:lnTo>
                  <a:pt x="0" y="24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82496" y="6622475"/>
            <a:ext cx="33500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Connor Hamilton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188" y="860018"/>
            <a:ext cx="1697749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 i="true" spc="-39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Future Scope and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4662" y="2915920"/>
            <a:ext cx="134586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Multi-Cloud Expansion: Include Azure and GCP-specific diagrams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4662" y="4546977"/>
            <a:ext cx="129771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 Prompt Builder: GUI-based prompt creation for users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4662" y="5789684"/>
            <a:ext cx="16230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CI/CD Integration: Automate diagram generation in DevOps pipelines (e.g., GitHub Actions)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4662" y="7670225"/>
            <a:ext cx="1367663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Explainability Layer: Trace model outputs to explain diagrammatic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decisions clearly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2987" y="579031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2987" y="2716460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2987" y="4311251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2987" y="5856359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2987" y="7451150"/>
            <a:ext cx="975049" cy="1147116"/>
          </a:xfrm>
          <a:custGeom>
            <a:avLst/>
            <a:gdLst/>
            <a:ahLst/>
            <a:cxnLst/>
            <a:rect r="r" b="b" t="t" l="l"/>
            <a:pathLst>
              <a:path h="1147116" w="975049">
                <a:moveTo>
                  <a:pt x="0" y="0"/>
                </a:moveTo>
                <a:lnTo>
                  <a:pt x="975049" y="0"/>
                </a:lnTo>
                <a:lnTo>
                  <a:pt x="975049" y="1147116"/>
                </a:lnTo>
                <a:lnTo>
                  <a:pt x="0" y="1147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82496" y="6622475"/>
            <a:ext cx="33500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Connor Hamilton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188" y="860018"/>
            <a:ext cx="1697749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 i="true" spc="-39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1477" y="2966486"/>
            <a:ext cx="134344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Successfully demonstrated automated diagram generation via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1477" y="4261239"/>
            <a:ext cx="16230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of structured datasets, rules, and fine-tuned models significantly reduced manual effort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1477" y="6008430"/>
            <a:ext cx="1587333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Hybrid strategy (prompt engineering + fine-tuning) offers flexibility, accuracy, and scalability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1477" y="7597781"/>
            <a:ext cx="1587333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Enhanced productivity and reduced manual diagram creation tasks for DevOps, architects, and analysts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5408612"/>
            <a:ext cx="1690612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43543"/>
            <a:ext cx="14441975" cy="269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53"/>
              </a:lnSpc>
            </a:pPr>
            <a:r>
              <a:rPr lang="en-US" b="true" sz="17794" i="true" spc="-87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8685" y="5057775"/>
            <a:ext cx="608531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For your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23145"/>
            <a:ext cx="28969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Acknowledgments: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0666" y="7138355"/>
            <a:ext cx="82780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Prof. Ashish Khandelwal for the opportunity and support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0666" y="6523145"/>
            <a:ext cx="898802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Thank the Bosch team for continuous feedback and guidance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92725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DAGlRb-PKZU</dc:identifier>
  <dcterms:modified xsi:type="dcterms:W3CDTF">2011-08-01T06:04:30Z</dcterms:modified>
  <cp:revision>1</cp:revision>
  <dc:title>BoschFinalPPt</dc:title>
</cp:coreProperties>
</file>